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6BB35-CB0A-4936-A978-FB33FF9CF39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89504-896D-405A-81EA-DEDCD74A6C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44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89504-896D-405A-81EA-DEDCD74A6CB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7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00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43400"/>
            <a:ext cx="12188952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Cleaning Validation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BFE"/>
                </a:solidFill>
              </a:rPr>
              <a:t>for Pharmaceutical Manufacturing — Carryover Limit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 Full-Stack Web Application for MACO Calculation, Protocol Management,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7238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Cleaning Validation Reporting &amp; Audit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</a:rPr>
              <a:t>M.Tech (Software Systems) — Viva Voce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1947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3C5FD"/>
                </a:solidFill>
              </a:rPr>
              <a:t>BITS Pilani, WILP  |  2023TM93530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85232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7DD3FC"/>
                </a:solidFill>
              </a:rPr>
              <a:t>Supervisor: Venkateswara Reddy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Why Cleaning Validation Management Needs a Dedicated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6692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536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Industry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783080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Pharmaceutical equipment is shared across multiple drug products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Residue of one product can contaminate the next — a critical patient-safety risk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Regulatory bodies (FDA, EMA, ICH Q7) mandate validated cleaning procedures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MACO (Maximum Allowable Carryover) limits must be calculated per product pair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Manual spreadsheet-based methods are error-prone and non-traceable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6692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27648" y="1536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Current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1783080"/>
            <a:ext cx="54864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No unified system to manage facilities, equipment, and products together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MACO calculations (PDE, Dose-based, 10 ppm) done in isolation without audit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Protocol generation and cleaning validation reports maintained separately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Audit trail is fragmented — no single source of truth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Analysts lack real-time dashboard visibility of validation status across sites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46320"/>
            <a:ext cx="11640312" cy="731520"/>
          </a:xfrm>
          <a:prstGeom prst="rect">
            <a:avLst/>
          </a:prstGeom>
          <a:solidFill>
            <a:srgbClr val="FEF9C3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9194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83500"/>
                </a:solidFill>
              </a:rPr>
              <a:t>Goal: Build a single integrated platform that automates MACO calculation, manages cleaning protocols end-to-end, and provides full regulatory-grade audit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21488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MACO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Implement three ICH-compliant calculation methods
(PDE, Dose-based, 10 ppm) with configurable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50876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150876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1959" y="21488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Master Data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9659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Centralised management of Facilities, Equipment
categories, and Product parameters with RBAC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0876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50876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14883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58191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Protocol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9659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Generate, archive and version cleaning validation
protocols with immutable snapshot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204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52044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593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Report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Create, submit, review and archive cleaning validation
reports linked to approved protocols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5204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51959" y="352044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59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593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Dashboard &amp; VMP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Real-time site dashboard + Validation Master Plan
with worst-case and all-products strategy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520440"/>
            <a:ext cx="3749039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3520440"/>
            <a:ext cx="502920" cy="18288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359359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Audit &amp;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3977639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Complete tamper-evident audit trail, role-based access,
JWT authentication, password-protected 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Three-Tier Web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49039" cy="4389120"/>
          </a:xfrm>
          <a:prstGeom prst="rect">
            <a:avLst/>
          </a:prstGeom>
          <a:solidFill>
            <a:srgbClr val="DFEBF9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749039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270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PRESENTATION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011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F9F"/>
                </a:solidFill>
              </a:rPr>
              <a:t>React 19  (SPA)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React Router (page 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437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▸  Axios HTTP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264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▸  SVG Charts (no library)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685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▸  Responsive CSS layout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▸  Print / PDF export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508760"/>
            <a:ext cx="3749039" cy="438912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59" y="1508760"/>
            <a:ext cx="3749039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51959" y="15270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APPLICATION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2011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FastAPI (Python)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JWT OAuth2 authentication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437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</a:t>
            </a:r>
            <a:r>
              <a:rPr sz="1100" b="0" i="0" dirty="0" err="1">
                <a:solidFill>
                  <a:srgbClr val="1E293B"/>
                </a:solidFill>
              </a:rPr>
              <a:t>Pydantic</a:t>
            </a:r>
            <a:r>
              <a:rPr sz="1100" b="0" i="0" dirty="0">
                <a:solidFill>
                  <a:srgbClr val="1E293B"/>
                </a:solidFill>
              </a:rPr>
              <a:t> v1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264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</a:t>
            </a:r>
            <a:r>
              <a:rPr sz="1100" b="0" i="0" dirty="0" err="1">
                <a:solidFill>
                  <a:srgbClr val="1E293B"/>
                </a:solidFill>
              </a:rPr>
              <a:t>SQLAlchemy</a:t>
            </a:r>
            <a:r>
              <a:rPr sz="1100" b="0" i="0" dirty="0">
                <a:solidFill>
                  <a:srgbClr val="1E293B"/>
                </a:solidFill>
              </a:rPr>
              <a:t>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685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MACO calculation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</a:t>
            </a:r>
            <a:r>
              <a:rPr sz="1100" b="0" i="0" dirty="0" err="1">
                <a:solidFill>
                  <a:srgbClr val="1E293B"/>
                </a:solidFill>
              </a:rPr>
              <a:t>Ollama</a:t>
            </a:r>
            <a:r>
              <a:rPr sz="1100" b="0" i="0" dirty="0">
                <a:solidFill>
                  <a:srgbClr val="1E293B"/>
                </a:solidFill>
              </a:rPr>
              <a:t> LLM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508760"/>
            <a:ext cx="3749039" cy="438912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1508760"/>
            <a:ext cx="3749039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0" y="152704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</a:rPr>
              <a:t>PostgreSQL 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13 </a:t>
            </a:r>
            <a:r>
              <a:rPr sz="1100" b="0" i="0" dirty="0" err="1">
                <a:solidFill>
                  <a:srgbClr val="1E293B"/>
                </a:solidFill>
              </a:rPr>
              <a:t>normalised</a:t>
            </a:r>
            <a:r>
              <a:rPr sz="1100" b="0" i="0" dirty="0">
                <a:solidFill>
                  <a:srgbClr val="1E293B"/>
                </a:solidFill>
              </a:rPr>
              <a:t> tables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8437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FK-enforced integrity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2644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Alembic migrations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685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Immutable protocol snapshots (JSON)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1056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▸  Audit log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41648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F9F"/>
                </a:solidFill>
              </a:rPr>
              <a:t>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33832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F9F"/>
                </a:solidFill>
              </a:rPr>
              <a:t>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3703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REST / HTTPS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27848" y="3703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SQLAlchemy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3749039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49039" cy="4114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  ●  React 19 — Component-based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Axios — HTTP client with interceptors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SVG — Inline charts (no third-party library)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  ●  OAuth2 Bearer token (JWT)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840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CSS-in-JS — Inline styles, responsive layout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508760"/>
            <a:ext cx="3749039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508760"/>
            <a:ext cx="3749039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FastAPI — Async Python web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Pydantic v1 — Request/response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python-jose — JWT encode/decode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bcrypt — Password hashing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3840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Ollama (llama3.2:1b) — Local LLM queries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508760"/>
            <a:ext cx="3749039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1508760"/>
            <a:ext cx="3749039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3816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Database &amp; Infra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PostgreSQL 15 — Primary relational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68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SQLAlchemy ORM — Model definitions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Alembic — Schema migrations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</a:rPr>
              <a:t>  ●  13 tables, FK constraints, JSON blobs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840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●  File-based structured logging (daily rotation)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PostgreSQL — 13 Normalised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" y="153619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facilities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5361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facility_id, facility_name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75104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1975104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" y="2048256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equipment_category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0482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category_id, category_name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8716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487168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" y="2560320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equipment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5603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equipment_id, name, facility_id, surface_area_cm2, rinse_vol_L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99232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2999232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" y="3072384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0723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product_id, facility_id, name, min_dose, max_dose, PDE, yield, solubility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11296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3511296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" y="358444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product_equipment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584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id, product_id, equipment_id  [M:N link table]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02336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4023360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" y="409651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maco_runs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096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run_id, source_product, target_product, governing_maco, limits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35424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535424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" y="4608576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maco_results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60857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result_id, calc_id, MACO_ug, method, is_governing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146304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46520" y="1463040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01383" y="153619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protocol_archive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153619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archive_id, doc_number, version, product_id, snapshot_json, 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1975104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46520" y="1975104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01383" y="2048256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sampling_plan_entry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204825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entry_id, category_id, sample_number, location_description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2487168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46520" y="2487168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01383" y="2560320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cleaning_validation_reports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560320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report_id, archive_id, product_id, results_data (JSON), submitted_by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2999232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46520" y="2999232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01383" y="3072384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users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07238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user_id, username, hashed_password, role, is_archived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3511296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446520" y="3511296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01383" y="3584448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audit_log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3584448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audit_id, event_type, entity_type, entity_id, old_value, new_value, performed_by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46520" y="402336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46520" y="4023360"/>
            <a:ext cx="1737360" cy="47548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01383" y="4096512"/>
            <a:ext cx="16276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system_config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5320" y="4096512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config_key, config_value  [e.g. maco_policy]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MACO Calculation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Maximum Allowable Carryover — Three ICH-Compliant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749039" cy="50292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270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 1
PDE / ADE Based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103120"/>
            <a:ext cx="3474720" cy="9601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305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MACO_PDE =
(PDE_source × Yield_target × 10⁶)
÷ MaxDailyDose_target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Uses Permitted Daily Exposure (HBEL approach)
ICH Q3C / EMA guideline on cleaning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50876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59" y="1508760"/>
            <a:ext cx="3749039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15270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 2
Dose-Based (1/1000th)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103120"/>
            <a:ext cx="3474720" cy="9601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1305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MACO_Dose =
(MinTherapDose_source × Yield_target × 10⁶)
÷ (MaxDailyDose_target × 1000)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1/1000th of minimum therapeutic dose in the
maximum daily dose of the next product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508760"/>
            <a:ext cx="3749039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508760"/>
            <a:ext cx="3749039" cy="5029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0" y="15270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 3
10 ppm Criterion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103120"/>
            <a:ext cx="3474720" cy="960120"/>
          </a:xfrm>
          <a:prstGeom prst="rect">
            <a:avLst/>
          </a:prstGeom>
          <a:solidFill>
            <a:srgbClr val="F0F4FF"/>
          </a:solidFill>
          <a:ln w="63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2130552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</a:rPr>
              <a:t>MACO_10ppm =
10,000 × MinYield_target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1546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10 ppm of source residue allowed in the
maximum daily dose of the next product (μg)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92040"/>
            <a:ext cx="11640312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9651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Governing MACO: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965192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min(MACO_PDE, MACO_Dose, MACO_10ppm)  →  most conservative value selected based on configurable policy (all_min | pde_only | dose_only | 10ppm_only | combinations)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650992"/>
            <a:ext cx="557784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57332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Rinse Limit (ppm)  =  Governing MACO ÷ Total Rinse Volume (L)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5650992"/>
            <a:ext cx="5925312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573328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Swab Limit (μg/cm²)  =  (Governing MACO × 90) ÷ Total Equipment Area (in²)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Master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Facilities · Equipment · Products — Foundation of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749039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749039" cy="4114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Facility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Multi-facility support across manufacturing sites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4871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Equipment and products scoped per facility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96265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Facility filter in MACO matrix and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3814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Audit-logged add / delete operations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508760"/>
            <a:ext cx="3749039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6240" y="1508760"/>
            <a:ext cx="3749039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Equipment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Category-based grouping (Mixer, Granulator…)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4871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Surface area (cm²) and rinse volume (L) per 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296265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Many-to-many product–equipment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343814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Used to derive rinse &amp; swab acceptance limits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508760"/>
            <a:ext cx="3749039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38160" y="1508760"/>
            <a:ext cx="3749039" cy="411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152704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01168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Min therapeutic dose, max daily dose, PDE, yield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487168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LOD / LOQ and analytical method stored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962656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USP solubility rating for worst-case risk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438144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AI-assisted product info lookup (Ollama LLM)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3913632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OpenFDA + PubChem CAS number auto-lookup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38912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  ▸  Archive/restore workflow with full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Protocol &amp; Cleaning Validation Report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17627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2176272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7276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MACO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42032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Run MACO matrix for
source–target product pairs
→ governing limits derived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1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33472" y="1554480"/>
            <a:ext cx="217627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33472" y="1554480"/>
            <a:ext cx="2176272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33472" y="157276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084831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Sampling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542032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Configure per-category
swab sample locations
(sample No. + description)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554480"/>
            <a:ext cx="217627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92624" y="1554480"/>
            <a:ext cx="2176272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92624" y="157276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084831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Archive Protocol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2542032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Freeze protocol snapshot
(Doc No., version, date)
Status: Draft →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1554480"/>
            <a:ext cx="217627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51776" y="1554480"/>
            <a:ext cx="2176272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51776" y="157276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2084831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Create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2542032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Select approved protocol,
enter run results + swab data
→ password-protected 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8048" y="32004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66CC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10928" y="1554480"/>
            <a:ext cx="2176272" cy="3749039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710928" y="1554480"/>
            <a:ext cx="2176272" cy="45720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710928" y="1572768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2084831"/>
            <a:ext cx="1993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F9F"/>
                </a:solidFill>
              </a:rPr>
              <a:t>View / Archive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02368" y="2542032"/>
            <a:ext cx="1993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Formatted report document,
print-to-PDF, version history,
signature block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440680"/>
            <a:ext cx="283464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550468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Immutable JSON snapshot — protocol is frozen at archive time; report uses live sampling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5440680"/>
            <a:ext cx="283464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37560" y="550468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Password-protected submit / delete — QA or ADMIN role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440680"/>
            <a:ext cx="283464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550468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Doc number + version tracking across protocol iterations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20" y="5440680"/>
            <a:ext cx="2834640" cy="594360"/>
          </a:xfrm>
          <a:prstGeom prst="rect">
            <a:avLst/>
          </a:prstGeom>
          <a:solidFill>
            <a:srgbClr val="DBEAFE"/>
          </a:solidFill>
          <a:ln w="63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5504688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Swab results per sample location per run — fully structured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Facility Master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Facility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3 manufacturing sites configured: API-1, API-2, API-3 — add/delete with audit log</a:t>
            </a:r>
          </a:p>
        </p:txBody>
      </p:sp>
      <p:pic>
        <p:nvPicPr>
          <p:cNvPr id="9" name="Picture 8" descr="2026-05-18 19_59_05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Equipment Master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Equipment 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Reactors, ANFDs, Sifters, Multi Mills — surface area (in²) and rinse volume (L) per unit</a:t>
            </a:r>
          </a:p>
        </p:txBody>
      </p:sp>
      <p:pic>
        <p:nvPicPr>
          <p:cNvPr id="9" name="Picture 8" descr="2026-05-18 19_59_30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Product Master — Add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Master — Add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Imatinib: AI suggestions + OpenFDA label + PubChem CAS 152459-95-5 auto-lookup side panels</a:t>
            </a:r>
          </a:p>
        </p:txBody>
      </p:sp>
      <p:pic>
        <p:nvPicPr>
          <p:cNvPr id="9" name="Picture 8" descr="2026-05-18 20_00_13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Product Master — View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Master — View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7 active products across API-1 / API-2 with dose, PDE, yield, method, solubility columns</a:t>
            </a:r>
          </a:p>
        </p:txBody>
      </p:sp>
      <p:pic>
        <p:nvPicPr>
          <p:cNvPr id="9" name="Picture 8" descr="2026-05-18 20_00_21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Product Master — Archived Toggle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Product Master — Archived Toggle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Show/Hide Archived Products — no archived products; History and Archive actions per row</a:t>
            </a:r>
          </a:p>
        </p:txBody>
      </p:sp>
      <p:pic>
        <p:nvPicPr>
          <p:cNvPr id="9" name="Picture 8" descr="2026-05-18 20_00_46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MACO Matrix — Detailed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MACO Matrix — Detailed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Abiraterone source: governing MACO 4687.5 mg, all target products PASS rinse &amp; swab</a:t>
            </a:r>
          </a:p>
        </p:txBody>
      </p:sp>
      <p:pic>
        <p:nvPicPr>
          <p:cNvPr id="9" name="Picture 8" descr="2026-05-18 20_01_01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MACO Matrix — Run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MACO Matrix — Run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Audit trail of all previous MACO runs — PDE, min dose, LOQ and governing MACO at run time</a:t>
            </a:r>
          </a:p>
        </p:txBody>
      </p:sp>
      <p:pic>
        <p:nvPicPr>
          <p:cNvPr id="9" name="Picture 8" descr="2026-05-18 20_01_09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MACO Matrix — Facility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MACO Matrix — Facility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API-2 facility summary — Lenalidomide → Pomalidomide FAIL on swab (governing: Dose method)</a:t>
            </a:r>
          </a:p>
        </p:txBody>
      </p:sp>
      <p:pic>
        <p:nvPicPr>
          <p:cNvPr id="9" name="Picture 8" descr="2026-05-18 20_01_18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Protocol — Generate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Protocol — 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Generated Cleaning Validation Protocol: CL-PROTO-0002-2026, scope, product info, methodology</a:t>
            </a:r>
          </a:p>
        </p:txBody>
      </p:sp>
      <p:pic>
        <p:nvPicPr>
          <p:cNvPr id="9" name="Picture 8" descr="2026-05-18 20_02_05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Protocol — Save to Archive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Protocol — Save to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Save to Archive modal — frozen snapshot with doc number, product, facility, sampling locations</a:t>
            </a:r>
          </a:p>
        </p:txBody>
      </p:sp>
      <p:pic>
        <p:nvPicPr>
          <p:cNvPr id="9" name="Picture 8" descr="2026-05-18 20_02_13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Protocol — Archived 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Protocol — Archived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Viewing archived CL-PROTO-0002-2026 Version 2 (Final) — data frozen at time of archival</a:t>
            </a:r>
          </a:p>
        </p:txBody>
      </p:sp>
      <p:pic>
        <p:nvPicPr>
          <p:cNvPr id="9" name="Picture 8" descr="2026-05-18 20_02_27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Sampling Plan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Sampling Plan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11 swab sample locations across 4 equipment categories — globally unique S-XXXX numbers</a:t>
            </a:r>
          </a:p>
        </p:txBody>
      </p:sp>
      <p:pic>
        <p:nvPicPr>
          <p:cNvPr id="9" name="Picture 8" descr="2026-05-18 20_02_36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CV Report — Create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 Report — Create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Create Cleaning Validation Report — no approved protocol for Nilotinib; Imatinib report listed</a:t>
            </a:r>
          </a:p>
        </p:txBody>
      </p:sp>
      <p:pic>
        <p:nvPicPr>
          <p:cNvPr id="9" name="Picture 8" descr="2026-05-18 20_02_45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CV Report — Swab Entry Grid (Top)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 Report — Swab Entry Grid (Top)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Abiraterone report: 3-run swab data entry grid with lot numbers, limits and status per sample</a:t>
            </a:r>
          </a:p>
        </p:txBody>
      </p:sp>
      <p:pic>
        <p:nvPicPr>
          <p:cNvPr id="9" name="Picture 8" descr="2026-05-18 20_03_00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CV Report — Swab Entry Grid (Bottom)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 Report — Swab Entry Grid (Bottom)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Report form continued: ANFD-102 and SFT-102 swab rows, validation dates, training, SOP</a:t>
            </a:r>
          </a:p>
        </p:txBody>
      </p:sp>
      <p:pic>
        <p:nvPicPr>
          <p:cNvPr id="9" name="Picture 8" descr="2026-05-18 20_03_04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CV Report — Submit &amp;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CV Report — Submit &amp;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Submit Report button, previous Imatinib report in history; password-protected submission</a:t>
            </a:r>
          </a:p>
        </p:txBody>
      </p:sp>
      <p:pic>
        <p:nvPicPr>
          <p:cNvPr id="9" name="Picture 8" descr="2026-05-18 20_03_08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Validation Master Plan —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Validation Master Plan —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VMP strategy selector: All Products Validation (min 3 runs each) vs Worst-Case approach</a:t>
            </a:r>
          </a:p>
        </p:txBody>
      </p:sp>
      <p:pic>
        <p:nvPicPr>
          <p:cNvPr id="9" name="Picture 8" descr="2026-05-18 20_03_44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Dashboard — Site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Dashboard — Site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KPI cards: 3 Facilities, 7 Products, 3 Protocols, 1 Report Done, 2 Pending — live SVG bar chart</a:t>
            </a:r>
          </a:p>
        </p:txBody>
      </p:sp>
      <p:pic>
        <p:nvPicPr>
          <p:cNvPr id="9" name="Picture 8" descr="2026-05-18 20_03_50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Dashboard — Charts &amp;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Dashboard — Charts &amp; Breakdown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Bar chart (API-1/2/3) + donut chart (33% complete) + expandable facility–product breakdown table</a:t>
            </a:r>
          </a:p>
        </p:txBody>
      </p:sp>
      <p:pic>
        <p:nvPicPr>
          <p:cNvPr id="9" name="Picture 8" descr="2026-05-18 20_03_55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Audit Trail — Filter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Trail — Filter 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Date-range and event-type filters; quick-filter chips: User Trail, Data Events, MACO</a:t>
            </a:r>
          </a:p>
        </p:txBody>
      </p:sp>
      <p:pic>
        <p:nvPicPr>
          <p:cNvPr id="9" name="Picture 8" descr="2026-05-18 20_04_08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Audit Trail — 169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Trail — 169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MACO_MATRIX, LOGIN, CREATE events with entity ID, old/new values, performer and timestamp</a:t>
            </a:r>
          </a:p>
        </p:txBody>
      </p:sp>
      <p:pic>
        <p:nvPicPr>
          <p:cNvPr id="9" name="Picture 8" descr="2026-05-18 20_05_59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NLP Query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NLP Query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Question: "Which product has the lowest PDE?" — Answer: Sorafenib (Ollama llama3.2 local LLM)</a:t>
            </a:r>
          </a:p>
        </p:txBody>
      </p:sp>
      <p:pic>
        <p:nvPicPr>
          <p:cNvPr id="9" name="Picture 8" descr="2026-05-18 20_08_04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User Management &amp; RBAC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User Management &amp;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4 active users (ADMIN, VIEWER, QA, HEAD_QA) + Roles &amp; Privileges Matrix overview</a:t>
            </a:r>
          </a:p>
        </p:txBody>
      </p:sp>
      <p:pic>
        <p:nvPicPr>
          <p:cNvPr id="9" name="Picture 8" descr="2026-05-18 20_08_21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RBAC Matrix —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RBAC Matrix — Part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Privileges matrix: Master Data, MACO &amp; Protocol, Sampling Plan, Calculation Policy sections</a:t>
            </a:r>
          </a:p>
        </p:txBody>
      </p:sp>
      <p:pic>
        <p:nvPicPr>
          <p:cNvPr id="9" name="Picture 8" descr="2026-05-18 20_08_27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RBAC Matrix —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RBAC Matrix — Part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Privileges matrix continued: Audit Log, User Management, NLP Query, Validation Master Plan</a:t>
            </a:r>
          </a:p>
        </p:txBody>
      </p:sp>
      <p:pic>
        <p:nvPicPr>
          <p:cNvPr id="9" name="Picture 8" descr="2026-05-18 20_08_36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Application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94944"/>
            <a:ext cx="11430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BFDBFE"/>
                </a:solidFill>
              </a:rPr>
              <a:t>Calculation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3291840" cy="32918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Calculation 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426464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6 configurable MACO policies (All Methods, PDE Only, Dose Only, 10ppm, combinations) + formulas</a:t>
            </a:r>
          </a:p>
        </p:txBody>
      </p:sp>
      <p:pic>
        <p:nvPicPr>
          <p:cNvPr id="9" name="Picture 8" descr="2026-05-18 20_08_47-React App - Op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04" y="1828800"/>
            <a:ext cx="8201943" cy="4572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Dashboard — Real-Time Site Validation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36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5361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4F9F"/>
                </a:solidFill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93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Facilities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50876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06039" y="15361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66CC"/>
                </a:solidFill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1993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Active 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150876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59" y="15361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C3AED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1993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Approved Protocols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79" y="150876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79" y="15361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6A34A"/>
                </a:solidFill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79" y="1993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Reports Done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1508760"/>
            <a:ext cx="210312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0" y="15361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580C"/>
                </a:solidFill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9933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Pending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60320"/>
            <a:ext cx="7772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63347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F9F"/>
                </a:solidFill>
              </a:rPr>
              <a:t>Facility-wise Progress — Grouped Bar Chart (SVG)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41648"/>
            <a:ext cx="274320" cy="1170432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4F9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584" y="4334256"/>
            <a:ext cx="274320" cy="87782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43584" y="41330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18CF8"/>
                </a:solidFill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72768" y="4919472"/>
            <a:ext cx="27432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72768" y="471830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01952" y="4626864"/>
            <a:ext cx="274320" cy="5852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01952" y="4425696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A580C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303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API-1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334256"/>
            <a:ext cx="274320" cy="87782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413308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4F9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303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API-2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5303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</a:rPr>
              <a:t>API-3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146304" cy="146304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56418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Products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5669280"/>
            <a:ext cx="146304" cy="14630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95728" y="56418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Protocols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669280"/>
            <a:ext cx="146304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33087" y="56418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79" y="5669280"/>
            <a:ext cx="146304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870447" y="56418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Pending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256032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21040" y="26334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F9F"/>
                </a:solidFill>
              </a:rPr>
              <a:t>Protocol Completion — Donut Chart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32004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F9F"/>
                </a:solidFill>
              </a:rPr>
              <a:t>33%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Completed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1 of 3 Approved Protocols have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E293B"/>
                </a:solidFill>
              </a:rPr>
              <a:t>Expandable table: Facility → Products → Progress bars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Validation Master Plan (VMP)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Worst-Case &amp; All-Products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37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58191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Validation Strategies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71323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All Products Strategy — every product validated individually on all shared equipment (min. 3 runs)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Worst-Case Strategy — per equipment, the hardest-to-clean product (highest USP solubility rating = 7) is selected; one product covers all others on the same equipment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USP Solubility Scale 1–7: Rating 7 (Practically Insoluble) = highest cleaning challenge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Summary cards: total equipment, unique worst-case products, minimum runs required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Printable / PDF export with full risk ranking 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508760"/>
            <a:ext cx="40233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7" y="15819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Regulatory 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7" y="1828800"/>
            <a:ext cx="3840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FDA 21 CFR Part 211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ICH Q7 — GMP for APIs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ICH Q10 — Pharmaceutical Quality System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EMA Guideline EMA/CHMP/CVMP/SWP/169430/2012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ISPE Baseline Guide Vol.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977639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404164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F9F"/>
                </a:solidFill>
              </a:rPr>
              <a:t>USP Solubility Risk 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4407408"/>
            <a:ext cx="475488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Very Soluble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67344" y="4407408"/>
            <a:ext cx="475488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67344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Freely Sol.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7696" y="4407408"/>
            <a:ext cx="475488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97696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Soluble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4407408"/>
            <a:ext cx="475488" cy="2011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28048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Spar. Sol.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407408"/>
            <a:ext cx="47548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9528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Slightly Sol.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88752" y="4407408"/>
            <a:ext cx="475488" cy="2011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588752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Very Slightly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119104" y="4407408"/>
            <a:ext cx="47548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19104" y="4416552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00232" y="4645152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E293B"/>
                </a:solidFill>
              </a:rPr>
              <a:t>Prac. Insol.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JWT Authentication · 7 Roles · Password-Protected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38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581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Login → bcrypt password verification → JWT issued (8-hour expiry, HS256)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All state-changing endpoints require Bearer token via OAuth2PasswordBearer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Destructive actions (delete, protocol approval, report submit) require inline password re-entry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Force-password-reset flag on first login; inactivity auto-logout (10 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508760"/>
            <a:ext cx="5943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5544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F9F"/>
                </a:solidFill>
              </a:rPr>
              <a:t>Role Hierarchy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874519"/>
            <a:ext cx="5943600" cy="292608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19019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167128"/>
            <a:ext cx="59436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22128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User Department / QC / 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12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View only — all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642616"/>
            <a:ext cx="5943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26883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8833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View + Edit — all modules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118104"/>
            <a:ext cx="594360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35040" y="31638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Head QA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16382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Full access — edit, delete, audit, users, policy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86200"/>
            <a:ext cx="53949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39593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206240"/>
            <a:ext cx="521208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Every CREATE / UPDATE / DELETE logged: entity_type, entity_id, old_value, new_value, performed_by, timestamp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LOGIN / LOGIN_FAIL / LOGOUT events captured for user trail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MACO_MATRIX events logged with governing MACO value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Startup integrity check: validates DB consistency on every server boot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886200"/>
            <a:ext cx="59436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53328" y="395935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Data Integrity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4206240"/>
            <a:ext cx="57607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Protocol snapshots are immutable — stored JSON never modified after archiving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Report submission requires QA / ADMIN role + correct password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Archived products removed from MACO matrix to prevent stale calculations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File-based structured logs (daily rotation) as secondary trail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/ NLP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Local LLM — Ollama (llama3.2:1b) — Privacy-First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39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73152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58191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NLP Query Assistant (/nlp/query)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28800"/>
            <a:ext cx="7132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Natural language questions about live database: "What is the MACO for Product A on Equipment X?"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Context window includes facilities, equipment, products, and last 10 audit events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LLM responds with structured JSON: text answer, or table with columns/rows, or chart hint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Frontend renders LLM output as formatted table or plain text automatically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No data leaves the organisation — fully on-premise via Ollama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92040"/>
            <a:ext cx="73152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96519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AI-Assisted Product Info (/ai/product-info)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5212079"/>
            <a:ext cx="713232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Enter a drug/API name → LLM returns structured JSON with pharmacological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Fields pre-filled: min therapeutic dose, max daily dose, PDE, analytical method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Significantly reduces manual data entry errors in Product Master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Confidence indicator (high / medium / low) displayed with source reference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508760"/>
            <a:ext cx="402336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15727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4F9F"/>
                </a:solidFill>
              </a:rPr>
              <a:t>AI Integration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920240"/>
            <a:ext cx="39319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195681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9568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Types natural language question in browser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9560" y="2359152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79" y="239572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3957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POST /nlp/query  {question: "…"}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2798064"/>
            <a:ext cx="39319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2834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FastAPI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28346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Builds compact DB context (JSON)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3236976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3273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6528" y="32735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Context + question → structured prompt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3675887"/>
            <a:ext cx="39319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37124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37124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llama3.2:1b  (runs locally, no internet)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4114800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55279" y="415137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96528" y="41513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JSON → text / table / chart type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4553712"/>
            <a:ext cx="3931920" cy="40233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79" y="45902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4F9F"/>
                </a:solidFill>
              </a:rPr>
              <a:t>UI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528" y="4590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Renders formatted answer to user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FDBFE"/>
                </a:solidFill>
              </a:rPr>
              <a:t>Functional Outcomes &amp; System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40 / 41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536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4F9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Facilities
Managed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5087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39" y="1536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66CC"/>
                </a:solidFill>
              </a:rPr>
              <a:t>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Products
Configured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5087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59" y="1536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6A34A"/>
                </a:solidFill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DB Tables
(PostgreSQL)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5087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79" y="1536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</a:rP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API Endpoints
(FastAPI)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5087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536192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A580C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116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User Roles
Defined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51760"/>
            <a:ext cx="5669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" y="2724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Functional Testing Highlights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2971800"/>
            <a:ext cx="5486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MACO calculations verified against manual spreadsheet results for all 3 methods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Protocol snapshot immutability confirmed — archived JSON unaffected by subsequent data edits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Role-based access: each of 7 roles tested for correct allow/deny behaviour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Audit log completeness: all 30+ state-changing endpoints verified to produce audit records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Date persistence bug resolved: Pydantic v1 model updated to preserve start_date / completion_date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Swab result propagation fixed: live sampling plan fetched instead of stale archived snapshot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651760"/>
            <a:ext cx="5669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2724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Performance &amp; Integration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2971800"/>
            <a:ext cx="548640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Response time &lt; 300 ms for all MACO matrix queries (3 facilities, 7 products)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PostgreSQL TRUNCATE + re-insert migration from SQLite completed in &lt; 2 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JWT 8-hour session + 10-minute inactivity lockout validated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Print-to-PDF layout tested across Chrome and Edge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Concurrent requests: FastAPI async handling verified with multiple browser sessions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88952" cy="5212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4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Cleaning Validation Application  |  Pharmaceutical Manufacturing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41 /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28800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Delivered a complete, production-ready cleaning validation platform from first principles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MACO calculation engine implements three ICH-compliant methods with configurable policy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End-to-end protocol-to-report workflow with immutable archival and version control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Full RBAC, JWT security, and tamper-evident audit trail meet GMP documentation requirements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Real-time dashboard eliminates manual reporting — instant site-wide validation status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Local LLM (Ollama) integration enables natural-language querying without data privacy risks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OpenFDA + PubChem CAS number lookup enriches product master data entry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Migration from SQLite to PostgreSQL completed; Alembic manages schema evolution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56692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FE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7648" y="1581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F9F"/>
                </a:solidFill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828800"/>
            <a:ext cx="54864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Electronic signature module (21 CFR Part 11 compliant) for reports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Multi-site deployment with facility-specific admin delegation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REST API versioning (v1 / v2) for long-term maintainability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Automated MACO recalculation when product parameters change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Scheduled batch reports and validation status email notifications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Integration with LIMS for direct import of analytical results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</a:rPr>
              <a:t>•  Mobile-responsive UI for shop-floor tablet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3464</Words>
  <Application>Microsoft Office PowerPoint</Application>
  <PresentationFormat>Custom</PresentationFormat>
  <Paragraphs>513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C .</cp:lastModifiedBy>
  <cp:revision>1</cp:revision>
  <dcterms:created xsi:type="dcterms:W3CDTF">2013-01-27T09:14:16Z</dcterms:created>
  <dcterms:modified xsi:type="dcterms:W3CDTF">2026-05-21T05:27:07Z</dcterms:modified>
  <cp:category/>
</cp:coreProperties>
</file>